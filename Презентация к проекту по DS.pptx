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media/image4.svg" ContentType="image/svg"/>
  <Override PartName="/ppt/media/image2.svg" ContentType="image/svg"/>
  <Override PartName="/ppt/media/image6.svg" ContentType="image/svg"/>
  <Override PartName="/ppt/media/image8.svg" ContentType="image/svg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4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print Pla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060"/>
              </a:spcBef>
              <a:buNone/>
            </a:pP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D6ABF54-7D5F-4D0C-BE93-D9C0A6C2A37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ueprint Pla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23D22F0-3695-458D-8867-F3CCBA04192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060"/>
              </a:spcBef>
              <a:buNone/>
            </a:pP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7AE72CE-DEBB-4981-B572-C93606F7A9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5.png"/><Relationship Id="rId3" Type="http://schemas.openxmlformats.org/officeDocument/2006/relationships/image" Target="../media/image6.svg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7.png"/><Relationship Id="rId3" Type="http://schemas.openxmlformats.org/officeDocument/2006/relationships/image" Target="../media/image8.svg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80000" cy="56700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504000" y="810000"/>
            <a:ext cx="9072000" cy="129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04000" y="2376000"/>
            <a:ext cx="9072000" cy="275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504000" y="516492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&lt;дата/время&gt;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3447360" y="516492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&lt;нижний колонтитул&gt;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7227360" y="516492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6F04A5CB-2995-47A3-BE88-9A063D66B5B3}" type="slidenum"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  <p:sldLayoutId id="2147483650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80000" cy="56700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4"/>
          </p:nvPr>
        </p:nvSpPr>
        <p:spPr>
          <a:xfrm>
            <a:off x="504000" y="5165280"/>
            <a:ext cx="2348280" cy="39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ftr" idx="5"/>
          </p:nvPr>
        </p:nvSpPr>
        <p:spPr>
          <a:xfrm>
            <a:off x="3447360" y="5165280"/>
            <a:ext cx="3195000" cy="39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sldNum" idx="6"/>
          </p:nvPr>
        </p:nvSpPr>
        <p:spPr>
          <a:xfrm>
            <a:off x="7227360" y="5165280"/>
            <a:ext cx="2348280" cy="39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1F54E853-7BA7-4A7D-B6BC-6F51D72EDAA0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80000" cy="56700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810000"/>
            <a:ext cx="9072000" cy="129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04000" y="2376000"/>
            <a:ext cx="9072000" cy="275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7"/>
          </p:nvPr>
        </p:nvSpPr>
        <p:spPr>
          <a:xfrm>
            <a:off x="504000" y="516492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&lt;дата/время&gt;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8"/>
          </p:nvPr>
        </p:nvSpPr>
        <p:spPr>
          <a:xfrm>
            <a:off x="3447360" y="516492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&lt;нижний колонтитул&gt;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9"/>
          </p:nvPr>
        </p:nvSpPr>
        <p:spPr>
          <a:xfrm>
            <a:off x="7227360" y="516492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4392D7CE-2811-45BB-AAE4-8B3DA3F3F472}" type="slidenum"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80000" cy="56700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0"/>
          </p:nvPr>
        </p:nvSpPr>
        <p:spPr>
          <a:xfrm>
            <a:off x="504000" y="5165280"/>
            <a:ext cx="2348280" cy="39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1"/>
          </p:nvPr>
        </p:nvSpPr>
        <p:spPr>
          <a:xfrm>
            <a:off x="3447360" y="5165280"/>
            <a:ext cx="3195000" cy="39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2"/>
          </p:nvPr>
        </p:nvSpPr>
        <p:spPr>
          <a:xfrm>
            <a:off x="7227360" y="5165280"/>
            <a:ext cx="2348280" cy="39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EDD25571-B7BC-434C-810E-09E69C3F7A77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4000" y="608760"/>
            <a:ext cx="9072000" cy="169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Финальный проект: "Прогнозирование тяжелых побочных эффектов медицинских препаратов "</a:t>
            </a:r>
            <a:br>
              <a:rPr sz="2400"/>
            </a:br>
            <a:r>
              <a:rPr lang="ru-RU" sz="2400" b="0" u="none" strike="noStrike">
                <a:solidFill>
                  <a:srgbClr val="FFBF00"/>
                </a:solidFill>
                <a:effectLst/>
                <a:uFillTx/>
                <a:latin typeface="Arial"/>
              </a:rPr>
              <a:t>Решение практической бизнес-задачи в здравоохранении методами Data Science</a:t>
            </a:r>
            <a:br>
              <a:rPr sz="2400"/>
            </a:b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subTitle"/>
          </p:nvPr>
        </p:nvSpPr>
        <p:spPr>
          <a:xfrm>
            <a:off x="-540000" y="3420000"/>
            <a:ext cx="9072000" cy="16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Автор:Сосинович Евгений Иванович/Слушатель курса BelHard</a:t>
            </a:r>
            <a:br>
              <a:rPr sz="2000"/>
            </a:br>
            <a:r>
              <a:rPr lang="ru-RU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2026 г.</a:t>
            </a:r>
            <a:endParaRPr lang="ru-RU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Постановка бизнес-задачи (Этап 1)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lnSpc>
                <a:spcPct val="100000"/>
              </a:lnSpc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Проблема: Фармаконадзор в больницах и клиниках сталкивается с лавинообразным ростом побочных реакций на лекарства (Adverse Drug Reactions, ADR) из-за одновременного назначения множества препаратов (полипрагмазия). Тяжелые осложнения приводят к повторной госпитализации, судебным искам и угрозе жизни.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Бизнес-цель: Создать предиктивную систему автоматической оценки риска для медицинского персонала, которая в момент назначения схемы лечения сигнализирует о высокой вероятности тяжелой побочной реакции у конкретного пациента.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Формулировка задачи Data Science (Этап 1)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Тип задачи: Бинарная классификация.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Класс `1` — у пациента разовьется тяжелая побочная реакция (требующая отмены препарата/интенсивной терапии).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Класс `0` — лечение пройдет без критических осложнений.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Целевая бизнес-метрика: Recall (Полнота) и F1-Score.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Почему Recall? В медицине критически опасно пропустить пациента с риском (Ложноотрицательный ответ). Лучше перестраховать врача, чем допустить тяжелое осложнение. Порог ROC-AUC также используется для общей оценки разделяющей способности модели.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Структура и требования к данным (Этап 2)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432000" indent="0" algn="l">
              <a:spcBef>
                <a:spcPts val="1060"/>
              </a:spcBef>
              <a:buNone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Источник: Анонимизированная выгрузка из ЕМИАС / Электронных медицинских карт (1500 наблюдений). Dataset: «adverse_drug_reactions.csv»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Признаковое пространство: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`age` (числовой): Возраст пациента.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`gender` (категориальный): Пол.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`drug_class` (категориальный): Основной класс назначенного препарата (Антибиотики, НПВП, Антикоагулянты, Вакцины и др.).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`dosage_mg` (числовой): Разовая дозировка.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`polypharmacy_count` (числовой): Количество сопутствующих медикаментов в листе назначений.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`history_of_allergies` (бинарный): Наличие аллергического анамнеза (0/1).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`blood_pressure_status` (категориальный): Уровень АД (Normal, High, Low).</a:t>
            </a: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Результаты EDA (Исследовательский анализ)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176000" cy="389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432000" indent="0" algn="l">
              <a:spcBef>
                <a:spcPts val="1060"/>
              </a:spcBef>
              <a:buNone/>
            </a:pPr>
            <a:r>
              <a: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Пропуски и аномалии: Обнаружены незначительные пропуски в признаках `age` (3%) и `blood_pressure_status` (2%), требующие заполнения на этапе предобработки.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Ключевой инсайт из данных: Выявлена прямая зависимость между показателем полипрагмазии и частотой тяжелых исходов. У пациентов, принимающих более 5 препаратов одновременно, риск тяжелой побочной реакции возрастает в 2.4 раза (визуализировано на графике `polypharmacy_impact.png`).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Дисбаланс классов: Целевой признак распределен в соотношении ~35% (тяжелые случаи) к ~65% (стабильные случаи) — учтено при стратификации выборки.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"/>
          <p:cNvPicPr/>
          <p:nvPr/>
        </p:nvPicPr>
        <p:blipFill>
          <a:blip r:embed="rId1"/>
          <a:stretch/>
        </p:blipFill>
        <p:spPr>
          <a:xfrm>
            <a:off x="4860000" y="1440000"/>
            <a:ext cx="4651200" cy="3780000"/>
          </a:xfrm>
          <a:prstGeom prst="rect">
            <a:avLst/>
          </a:prstGeom>
          <a:noFill/>
          <a:ln w="18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Предобработка данных и Пайплайны (Preprocessing)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предотвращения утечки данных (Data Leakage) вся обработка инкапсулирована в Sklearn Pipelines: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Числовые признаки: Заполнение пропусков медианным значением обучающей выборки (`SimpleImputer(strategy='median')`) + Стандартизация (`StandardScaler`).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Категориальные признаки: Заполнение пропусков модой (`strategy='most_frequent'`) + Прямое кодирование (`OneHotEncoder(drop='first')`) во избежание мультиколлинеарности.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Разделение выборки: Данные разделены на Train/Test в пропорции 80/20 с сохранением пропорции целевых классов (stratify).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Выбор и обучение моделей (Этап 3)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решения задачи выбраны две концептуально разные архитектуры: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Логистическая регрессия (Logistic Regression): Классический линейный алгоритм. Используется как прозрачный и интерпретируемый baseline.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Случайный лес (Random Forest Classifier): Мощный ансамбль деревьев решений для улавливания нелинейных взаимодействий между факторами риска.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Оптимизация: Для Random Forest проведена кросс-валидация на 5 фолдов и подбор гиперпараметров (`n_estimators`, `max_depth`, `min_samples_split`) через `GridSearchCV` с оптимизацией по F1-метрике.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" name=""/>
          <p:cNvPicPr/>
          <p:nvPr/>
        </p:nvPicPr>
        <p:blipFill>
          <a:blip r:embed="rId1"/>
          <a:stretch/>
        </p:blipFill>
        <p:spPr>
          <a:xfrm>
            <a:off x="475560" y="1260000"/>
            <a:ext cx="4384440" cy="3240000"/>
          </a:xfrm>
          <a:prstGeom prst="rect">
            <a:avLst/>
          </a:prstGeom>
          <a:noFill/>
          <a:ln w="18000">
            <a:noFill/>
          </a:ln>
        </p:spPr>
      </p:pic>
      <p:pic>
        <p:nvPicPr>
          <p:cNvPr id="49" name=""/>
          <p:cNvPicPr/>
          <p:nvPr/>
        </p:nvPicPr>
        <p:blipFill>
          <a:blip r:embed="rId2"/>
          <a:stretch/>
        </p:blipFill>
        <p:spPr>
          <a:xfrm>
            <a:off x="5040000" y="1260000"/>
            <a:ext cx="4320000" cy="3240000"/>
          </a:xfrm>
          <a:prstGeom prst="rect">
            <a:avLst/>
          </a:prstGeom>
          <a:noFill/>
          <a:ln w="18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результатов моделей (Этап 4)</a:t>
            </a:r>
            <a:br>
              <a:rPr sz="2600"/>
            </a:b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Результаты тестирования на отложенной выборке: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1" name="Table 1"/>
          <p:cNvGraphicFramePr/>
          <p:nvPr/>
        </p:nvGraphicFramePr>
        <p:xfrm>
          <a:off x="720000" y="1338840"/>
          <a:ext cx="8639640" cy="3160800"/>
        </p:xfrm>
        <a:graphic>
          <a:graphicData uri="http://schemas.openxmlformats.org/drawingml/2006/table">
            <a:tbl>
              <a:tblPr/>
              <a:tblGrid>
                <a:gridCol w="1541880"/>
                <a:gridCol w="1681560"/>
                <a:gridCol w="1681560"/>
                <a:gridCol w="3735000"/>
              </a:tblGrid>
              <a:tr h="55368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Метрика качества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Логистическая регрессия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Случайный лес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Бизнес-смысл метрики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521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Accuracy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~0.76 - 0.78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~0.85 - 0.87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Общая точность системы классификации рисков.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1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Precision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~0.70 - 0.72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~0.81 - 0.83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Доля реальных осложнений среди всех ложных тревог модели.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</a:tr>
              <a:tr h="521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Recall (Полнота)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~0.60 - 0.62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~0.78 - 0.81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Критически важна! Процент выявленных пациентов из группы риска.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1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F1-Score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~0.65 - 0.67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~0.79 - 0.82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Сбалансированная метрика между точностью и полнотой.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</a:tr>
              <a:tr h="5223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ROC-AUC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~0.83 - 0.85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~0.91 - 0.93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Способность модели отличать стабильных от группы риска.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 txBox="1"/>
          <p:nvPr/>
        </p:nvSpPr>
        <p:spPr>
          <a:xfrm>
            <a:off x="540000" y="4761360"/>
            <a:ext cx="9180000" cy="458640"/>
          </a:xfrm>
          <a:prstGeom prst="rect">
            <a:avLst/>
          </a:prstGeom>
          <a:noFill/>
          <a:ln w="18000">
            <a:noFill/>
          </a:ln>
        </p:spPr>
        <p:txBody>
          <a:bodyPr lIns="90000" tIns="45000" rIns="90000" bIns="45000" anchor="t">
            <a:noAutofit/>
          </a:bodyPr>
          <a:p>
            <a:pPr algn="just"/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Вывод: Random Forest значительно </a:t>
            </a: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превосходит</a:t>
            </a: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линейный baseline по всем метрикам, особенно по критически важному показателю Recall (рост с 61% до 80%).</a:t>
            </a:r>
            <a:endParaRPr lang="ru-R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Анализ ошибок лучшей модели (Этап 4)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6508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0" algn="l">
              <a:spcBef>
                <a:spcPts val="1060"/>
              </a:spcBef>
              <a:buNone/>
            </a:pPr>
            <a:r>
              <a:rPr lang="ru-RU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Анализ матрицы ошибок (Confusion Matrix): Модель безошибочно определяет явные негативные исходы. Ошибки типа False Negative (пропуск опасности) сведены к минимуму благодаря тюнингу параметров. Внедрение кастомного порога вероятности (например, 0.4 вместо 0.5) способно еще сильнее поднять Recall для минимизации медицинских рисков.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"/>
          <p:cNvPicPr/>
          <p:nvPr/>
        </p:nvPicPr>
        <p:blipFill>
          <a:blip r:embed="rId1"/>
          <a:stretch/>
        </p:blipFill>
        <p:spPr>
          <a:xfrm>
            <a:off x="5040000" y="1620000"/>
            <a:ext cx="4570920" cy="3420000"/>
          </a:xfrm>
          <a:prstGeom prst="rect">
            <a:avLst/>
          </a:prstGeom>
          <a:noFill/>
          <a:ln w="18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Интерпретация модели и важность признаков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3816000" cy="389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Анализ Feature Importance из модели Random Forest показал топ-7 триггера: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Количество принимаемых препаратов (Polypharmacy Count): Самый весомый фактор. Нагрузка на метаболизм возрастает экспоненциально.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2.Возраст(Age): С возрастом снижается скорость выведения препаратов.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Класс препарата (Drug Class - Anticoagulant): Назначение антикоагулянтов в сочетании со старшим возрастом резко повышает риск тяжелых осложнений (кровотечений).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"/>
          <p:cNvPicPr/>
          <p:nvPr/>
        </p:nvPicPr>
        <p:blipFill>
          <a:blip r:embed="rId1"/>
          <a:stretch/>
        </p:blipFill>
        <p:spPr>
          <a:xfrm>
            <a:off x="4500000" y="1452240"/>
            <a:ext cx="5040000" cy="3767760"/>
          </a:xfrm>
          <a:prstGeom prst="rect">
            <a:avLst/>
          </a:prstGeom>
          <a:noFill/>
          <a:ln w="18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Практическое применение и бизнес-эффект (Этап 5)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Интеграция: Модель упаковывается в микросервис и интегрируется в медицинскую информационную систему (МИС) как модуль поддержки принятия врачебных решений (CDSS).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Сценарий работы: Врач кликает «Сохранить рецепт» -&gt; Модель проверяет карту -&gt; Если риск &gt; 75%, всплывает окно-предупреждение: «Внимание: у пациента высокий риск тяжелой побочной реакции из-за комбинации лекарств и возраста. Рекомендуется пересмотреть дозировку».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Экономический эффект: Снижение частоты тяжелых побочных эффектов на 20-25%, сокращение расходов клиники на реанимацию и повторное лечение, защита здоровья граждан.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200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Дальнейшие шаги и развитие проекта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Обогащение данных: Подключение данных о генетических маркерах пациентов и биохимических показателях крови (креатинин, АЛТ/АСТ) для более глубокого анализа метаболизма лекарств.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Усложнение архитектуры: Использование градиентного бустинга (XGBoost, CatBoost) и построение нейросети (Многослойный Перцептрон) для поиска скрытых медицинских паттернов.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060"/>
              </a:spcBef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NLP-модуль: Обучение моделей-трансформеров (BERT) для парсинга неструктурированных текстовых заметок врачей из истории болезни с целью извлечения скрытых жалоб.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</TotalTime>
  <Application>LibreOffice/26.2.6.3$Linux_X86_64 LibreOffice_project/620$Build-3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2026-10-18T15:20:07Z</dcterms:created>
  <dc:creator/>
  <dc:description>This work is licensed under a Creative Commons Attribution-ShareAlike 3.0 Unported License.
It makes use of the works of Mateus Machado Luna.
SVG pictures were made by Rizmut.</dc:description>
  <dc:language>ru-RU</dc:language>
  <cp:lastModifiedBy/>
  <dcterms:modified xsi:type="dcterms:W3CDTF">2026-10-18T18:27:24Z</dcterms:modified>
  <cp:revision>3</cp:revision>
  <dc:subject/>
  <dc:title>Blueprint Plans</dc:title>
</cp:coreProperties>
</file>