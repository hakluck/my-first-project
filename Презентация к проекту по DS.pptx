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media/image4.svg" ContentType="image/svg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print Pla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9640" cy="56696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164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прав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ки 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текст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 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загл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авия 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щёлк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ните 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мыш</a:t>
            </a: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ью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</a:t>
            </a: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структуры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</a:t>
            </a: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структуры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</a:t>
            </a: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структуры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Седьмой </a:t>
            </a: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уровень </a:t>
            </a: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структуры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1"/>
          </p:nvPr>
        </p:nvSpPr>
        <p:spPr>
          <a:xfrm>
            <a:off x="3447360" y="516492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2"/>
          </p:nvPr>
        </p:nvSpPr>
        <p:spPr>
          <a:xfrm>
            <a:off x="722736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99B54FF-81BC-41DE-A317-DD8200F75ACF}" type="slidenum"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dt" idx="3"/>
          </p:nvPr>
        </p:nvSpPr>
        <p:spPr>
          <a:xfrm>
            <a:off x="50400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9640" cy="56696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164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4"/>
          </p:nvPr>
        </p:nvSpPr>
        <p:spPr>
          <a:xfrm>
            <a:off x="3447360" y="516492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5"/>
          </p:nvPr>
        </p:nvSpPr>
        <p:spPr>
          <a:xfrm>
            <a:off x="722736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A40795C-9F17-4621-94DE-A412CE646D22}" type="slidenum"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6"/>
          </p:nvPr>
        </p:nvSpPr>
        <p:spPr>
          <a:xfrm>
            <a:off x="50400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447120"/>
            <a:ext cx="907164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060"/>
              </a:spcBef>
              <a:buNone/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701A2F-EB2A-4837-B1F7-17F8762ADEA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9640" cy="56696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447120"/>
            <a:ext cx="907164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правки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текста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заглав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ия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щёлкн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ите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мышь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64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92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152B1F-59E5-4E4A-974B-BC1B14E18BCD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92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543960"/>
            <a:ext cx="9071640" cy="182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Финальн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ый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проект: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"Прогноз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ирование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тяжелых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побочны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х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эффекто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в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медицин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ских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препарат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ов "</a:t>
            </a:r>
            <a:br>
              <a:rPr sz="2400"/>
            </a:b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Решение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практиче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ской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бизнес-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задачи в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здравоох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ранении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методам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и Data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Science с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примене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нием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градиент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ного </a:t>
            </a: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бустинга</a:t>
            </a:r>
            <a:br>
              <a:rPr sz="2400"/>
            </a:b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ubTitle"/>
          </p:nvPr>
        </p:nvSpPr>
        <p:spPr>
          <a:xfrm>
            <a:off x="-540000" y="3419640"/>
            <a:ext cx="9071640" cy="162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Автор:Сос</a:t>
            </a: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инович </a:t>
            </a: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Евгений </a:t>
            </a: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Иванович/</a:t>
            </a: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Слушатель </a:t>
            </a: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курса </a:t>
            </a: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BelHard</a:t>
            </a:r>
            <a:br>
              <a:rPr sz="2000"/>
            </a:b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2026 г.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Постановка бизнес-задачи (Этап 1)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Проблема: Фармаконадзор в больницах и клиниках сталкивается с лавинообразным ростом побочных реакций на лекарства (Adverse Drug Reactions, ADR) из-за одновременного назначения множества препаратов (полипрагмазия). Тяжелые осложнения, вызванные приёмом большого количества лекарств, приводят к повторной госпитализации, судебным искам и угрозе жизни.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Бизнес-цель: Создать предиктивную систему автоматической оценки риска для медицинского персонала, которая в момент назначения схемы лечения сигнализирует о высокой вероятности тяжелой побочной реакции у конкретного пациента.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Формулировка задачи Data Science (Этап 1)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 задачи: Бинарная классификация.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Класс `1` — у пациента разовьется тяжелая побочная реакция (требующая отмены препарата/интенсивной терапии).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Класс `0` — лечение пройдет без критических осложнений.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Целевая бизнес-метрика: Recall (Полнота) и F1-Score.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Почему Recall? В медицине критически опасно пропустить пациента с риском (Ложноотрицательный ответ). Лучше перестраховать врача, чем допустить тяжелое осложнение. Порог ROC-AUC также используется для общей оценки разделяющей способности модели.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Структура и требования к данным (Этап 2)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53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Источник: Анонимизированная выгрузка из ЕМИАС / Электронных медицинских карт (1500 наблюдений). Dataset: «adverse_drug_reactions.csv»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Признаковое пространство: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`age` (числовой): Возраст пациента.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`gender` (категориальный): Пол.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`drug_class` (категориальный): Основной класс назначенного препарата (Антибиотики, НПВП, Антикоагулянты, Вакцины и др.).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`dosage_mg` (числовой): Разовая дозировка.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`polypharmacy_count` (числовой): Количество сопутствующих медикаментов в листе назначений.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`blood_pressure_status` (категориальный): Уровень АД (Normal, High, Low).</a:t>
            </a: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Резуль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таты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EDA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(Иссле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довате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льский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36000" cy="389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060"/>
              </a:spcBef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Пропуски и аномалии: Выявлены пропуски в признаках `age` и `blood_pressure_status`, которые обрабатываются на этапе автоматического конвейера (пайплайна).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060"/>
              </a:spcBef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Дисбаланс классов: Распределение целевого признака `severe_adr` составляет около 35% (тяжелые случаи) к 65% (стабильные случаи). Это учтено при стратификации выборки (параметр `stratify=y` при разбиении).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060"/>
              </a:spcBef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Ключевой инсайт: Обнаружена сильная прямая зависимость между показателем полипрагмазии и частотой тяжелых исходов. Рост числа одновременно принимаемых лекарств критически увеличивает вероятность побочной реакции (визуализировано графиками target_distribution.png и polypharmacy_impact.png).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060"/>
              </a:spcBef>
              <a:buNone/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447120"/>
            <a:ext cx="907164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Графики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"/>
          <p:cNvPicPr/>
          <p:nvPr/>
        </p:nvPicPr>
        <p:blipFill>
          <a:blip r:embed="rId1"/>
          <a:stretch/>
        </p:blipFill>
        <p:spPr>
          <a:xfrm>
            <a:off x="4860000" y="1203480"/>
            <a:ext cx="4680000" cy="4196520"/>
          </a:xfrm>
          <a:prstGeom prst="rect">
            <a:avLst/>
          </a:prstGeom>
          <a:noFill/>
          <a:ln w="18000">
            <a:noFill/>
          </a:ln>
        </p:spPr>
      </p:pic>
      <p:pic>
        <p:nvPicPr>
          <p:cNvPr id="34" name=""/>
          <p:cNvPicPr/>
          <p:nvPr/>
        </p:nvPicPr>
        <p:blipFill>
          <a:blip r:embed="rId2"/>
          <a:stretch/>
        </p:blipFill>
        <p:spPr>
          <a:xfrm>
            <a:off x="360000" y="1260000"/>
            <a:ext cx="4500000" cy="396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Предо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брабо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тка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данны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 и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Пайпл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айны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(Prepr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ocessi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ng)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2400" y="1260000"/>
            <a:ext cx="9690120" cy="412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Защита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 утечки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данных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(Data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Leakage):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Вся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предобраб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отка строго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инкапсули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рована в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Sklearn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Pipelines и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ColumnTra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nsformer,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разделяя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логику для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типов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признаков.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Числовые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признаки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(`age`,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`dosage_m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g`,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`polypharm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acy_count`)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*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Заполнени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пропусков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медианны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значением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(`SimpleIm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puter(strate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gy='median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')`).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*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Стандарти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зация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значений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(`Standard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Scaler`).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Категориал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ьные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признаки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(`gender`,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`drug_class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`,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`blood_pres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sure_status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`):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*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Заполнени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пропусков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модой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(`SimpleIm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puter(strate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gy='most_fr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equent')`).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* Прямое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кодирован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ие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(`OneHotE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ncoder(dro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p='first',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handle_unk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nown='igno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re')`) для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предотвра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щения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мультикол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линеарнос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Валидация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Разделени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 данных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Train/Test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(80/20) со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стратифик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ацией по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классам.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Выбор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обучен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ие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модел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ей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(Этап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исследования взаимосвязей протестирована эволюция из 3-х архитектур: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Logistic Regression (Baseline): Классический линейный алгоритм, используемый как прозрачная базовая точка отсчета.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Random Forest Classifier: Сложный ансамбль независимых деревьев решений (бэггинг). Параметры (`n_estimators`, `max_depth`, `min_samples_split`) оптимизированы через `GridSearchCV` по F1-метрике.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XGBoost Classifier (Победитель): Продвинутый алгоритм последовательного градиентного бустинга. Проведена кросс-валидация параметров глубины и `learning_rate` с целевым отслеживанием ошибок предыдущих деревьев.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результатов моделей (Этап 4)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540000" y="1172520"/>
            <a:ext cx="8820000" cy="3490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Сводный анализ на отложенной тестовой выборке: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Логистическая регрессия: Демонстрирует базовые метрики (F1 ~ 0.81). Обладает высоким количеством пропусков рисков.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Случайный лес (Оптимизированный): Заметно повышает показатели (F1 ~ 0.87, ROC-AUC ~ 0.91) за счет нелинейных разделений.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XGBoost (Оптимизированный): Лидер по всем метрикам (F1 ~ 0.90, ROC-AUC ~ 0.94). Показал наивысший Recall, сводя к минимуму опасные пропуски пациентов из группы риска (визуализировано на models_comparison.png).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447120"/>
            <a:ext cx="907164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Графи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ения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метрик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/>
          <p:cNvPicPr/>
          <p:nvPr/>
        </p:nvPicPr>
        <p:blipFill>
          <a:blip r:embed="rId1"/>
          <a:stretch/>
        </p:blipFill>
        <p:spPr>
          <a:xfrm>
            <a:off x="540000" y="1080000"/>
            <a:ext cx="8640000" cy="4221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ошибо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лучше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й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модел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(Этап </a:t>
            </a: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6472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p>
            <a:pPr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Матрица ошибок (Confusion Matrix): Благодаря оптимизации гиперпараметров бустинга, ошибки типа False Negative (пропуск опасного состояния) снижены до минимума.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Ключевые факторы риска по оценке XGBoost (Feature Importance):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1. Количество принимаемых препаратов (`polypharmacy_count`) — самый сильный фактор, перегружающий метаболизм.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2. Возраст пациента (`age`) — критический маркер снижения скорости выведения лекарств.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3. Статус артериального давления (`blood_pressure_status`).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(визуализировано на feature_importance_xgb.png).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Интерпретация модели и важность признаков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3815640" cy="389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Feature Importance из модели Random Forest показал топ-7 триггера: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Количество принимаемых препаратов (Polypharmacy Count): Самый весомый фактор. Нагрузка на метаболизм возрастает экспоненциально.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2.Возраст(Age): С возрастом снижается скорость выведения препаратов.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Класс препарата (Drug Class - Anticoagulant): Назначение антикоагулянтов в сочетании со старшим возрастом резко повышает риск тяжелых осложнений (кровотечений).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"/>
          <p:cNvPicPr/>
          <p:nvPr/>
        </p:nvPicPr>
        <p:blipFill>
          <a:blip r:embed="rId1"/>
          <a:stretch/>
        </p:blipFill>
        <p:spPr>
          <a:xfrm>
            <a:off x="4500000" y="1452240"/>
            <a:ext cx="5039640" cy="376740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Практическое применение и бизнес-эффект (Этап 5)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Интеграция: Модель упаковывается в микросервис и интегрируется в медицинскую информационную систему (МИС) как модуль поддержки принятия врачебных решений (CDSS).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Сценарий работы: Врач кликает «Сохранить рецепт» -&gt; Модель проверяет карту -&gt; Если риск &gt; 75%, всплывает окно-предупреждение: «Внимание: у пациента высокий риск тяжелой побочной реакции из-за комбинации лекарств и возраста. Рекомендуется пересмотреть дозировку».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Экономический эффект: Снижение частоты тяжелых побочных эффектов на 20-25%, сокращение расходов клиники на реанимацию и повторное лечение, защита здоровья граждан.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Дальнейшие шаги и развитие проекта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Обогащение данных: Подключение данных о генетических маркерах пациентов и биохимических показателях крови (креатинин, АЛТ/АСТ) для более глубокого анализа метаболизма лекарств.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Усложнение архитектуры: Использование градиентного бустинга (XGBoost, CatBoost) и построение нейросети (Многослойный Перцептрон) для поиска скрытых медицинских паттернов.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NLP-модуль: Обучение моделей-трансформеров (BERT) для парсинга неструктурированных текстовых заметок врачей из истории болезни с целью извлечения скрытых жалоб.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</TotalTime>
  <Application>LibreOffice/26.2.6.3$Linux_X86_64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2026-10-18T15:20:07Z</dcterms:created>
  <dc:creator/>
  <dc:description>This work is licensed under a Creative Commons Attribution-ShareAlike 3.0 Unported License.
It makes use of the works of Mateus Machado Luna.
SVG pictures were made by Rizmut.</dc:description>
  <dc:language>ru-RU</dc:language>
  <cp:lastModifiedBy/>
  <dcterms:modified xsi:type="dcterms:W3CDTF">2026-10-21T21:42:28Z</dcterms:modified>
  <cp:revision>4</cp:revision>
  <dc:subject/>
  <dc:title>Blueprint Plans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