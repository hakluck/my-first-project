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3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presProps.xml" ContentType="application/vnd.openxmlformats-officedocument.presentationml.presProps+xml"/>
  <Override PartName="/ppt/media/image4.svg" ContentType="image/svg"/>
  <Override PartName="/ppt/media/image2.svg" ContentType="image/svg"/>
  <Override PartName="/ppt/slides/slide12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ueprint Pla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0"/>
            <a:ext cx="10079280" cy="566928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504000" y="28440"/>
            <a:ext cx="9071280" cy="134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4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>
            <a:lvl1pPr algn="l">
              <a:lnSpc>
                <a:spcPct val="100000"/>
              </a:lnSpc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ftr" idx="1"/>
          </p:nvPr>
        </p:nvSpPr>
        <p:spPr>
          <a:xfrm>
            <a:off x="3447360" y="516492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sldNum" idx="2"/>
          </p:nvPr>
        </p:nvSpPr>
        <p:spPr>
          <a:xfrm>
            <a:off x="7227360" y="516492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A256EA4-BB13-4AAC-A575-3D4947FF92C3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&lt;номер&gt;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dt" idx="3"/>
          </p:nvPr>
        </p:nvSpPr>
        <p:spPr>
          <a:xfrm>
            <a:off x="504000" y="516492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0"/>
            <a:ext cx="10079280" cy="566928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8440"/>
            <a:ext cx="9071280" cy="134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4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ftr" idx="4"/>
          </p:nvPr>
        </p:nvSpPr>
        <p:spPr>
          <a:xfrm>
            <a:off x="3447360" y="516492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sldNum" idx="5"/>
          </p:nvPr>
        </p:nvSpPr>
        <p:spPr>
          <a:xfrm>
            <a:off x="7227360" y="516492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FDAF80C-6609-454D-A3C9-D994BCF7AD87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&lt;номер&gt;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6"/>
          </p:nvPr>
        </p:nvSpPr>
        <p:spPr>
          <a:xfrm>
            <a:off x="504000" y="516492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5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04000" y="447120"/>
            <a:ext cx="9071280" cy="50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  <a:tabLst>
                <a:tab pos="0" algn="l"/>
              </a:tabLst>
            </a:pP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060"/>
              </a:spcBef>
              <a:buNone/>
            </a:pP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F531C78-3225-4F26-8417-2EEDA000AB5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0"/>
            <a:ext cx="10079280" cy="566928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447120"/>
            <a:ext cx="9071280" cy="50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ru-RU" sz="3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ru-RU" sz="3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638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425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63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42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ftr" idx="7"/>
          </p:nvPr>
        </p:nvSpPr>
        <p:spPr>
          <a:xfrm>
            <a:off x="3447360" y="5165280"/>
            <a:ext cx="319428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sldNum" idx="8"/>
          </p:nvPr>
        </p:nvSpPr>
        <p:spPr>
          <a:xfrm>
            <a:off x="7227360" y="5165280"/>
            <a:ext cx="234756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A2DBED8-D8CE-4640-B568-E9B336A85ECB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&lt;номер&gt;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dt" idx="9"/>
          </p:nvPr>
        </p:nvSpPr>
        <p:spPr>
          <a:xfrm>
            <a:off x="504000" y="5165280"/>
            <a:ext cx="234756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543600"/>
            <a:ext cx="9071280" cy="182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rgbClr val="FFBF00"/>
                </a:solidFill>
                <a:effectLst/>
                <a:uFillTx/>
                <a:latin typeface="Arial"/>
              </a:rPr>
              <a:t>Финальный проект: "Прогнозирование тяжелых побочных эффектов медицинских препаратов "</a:t>
            </a:r>
            <a:br>
              <a:rPr sz="2400"/>
            </a:br>
            <a:r>
              <a:rPr lang="ru-RU" sz="2400" b="0" u="none" strike="noStrike">
                <a:solidFill>
                  <a:srgbClr val="FFBF00"/>
                </a:solidFill>
                <a:effectLst/>
                <a:uFillTx/>
                <a:latin typeface="Arial"/>
              </a:rPr>
              <a:t>Решение практической бизнес-задачи в здравоохранении методами Data Science с применением градиентного бустинга</a:t>
            </a:r>
            <a:br>
              <a:rPr sz="2400"/>
            </a:br>
            <a:endParaRPr lang="ru-R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subTitle"/>
          </p:nvPr>
        </p:nvSpPr>
        <p:spPr>
          <a:xfrm>
            <a:off x="-540000" y="3419280"/>
            <a:ext cx="9071280" cy="162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spcBef>
                <a:spcPts val="1414"/>
              </a:spcBef>
              <a:buNone/>
              <a:tabLst>
                <a:tab pos="0" algn="l"/>
              </a:tabLst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Автор:Сосинович Евгений Иванович/Слушатель курса BelHard</a:t>
            </a:r>
            <a:br>
              <a:rPr sz="2000"/>
            </a:b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2026 г.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4000" y="225000"/>
            <a:ext cx="9071280" cy="94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Постановка бизнес-задачи (Этап 1)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0" algn="l">
              <a:lnSpc>
                <a:spcPct val="100000"/>
              </a:lnSpc>
              <a:spcBef>
                <a:spcPts val="1060"/>
              </a:spcBef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Проблема: Фармаконадзор в больницах и клиниках сталкивается с лавинообразным ростом побочных реакций на лекарства (Adverse Drug Reactions, ADR) из-за одновременного назначения множества препаратов (полипрагмазия). Тяжелые осложнения, вызванные приёмом большого количества лекарств, приводят к повторной госпитализации, судебным искам и угрозе жизни.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 algn="l">
              <a:lnSpc>
                <a:spcPct val="100000"/>
              </a:lnSpc>
              <a:spcBef>
                <a:spcPts val="1060"/>
              </a:spcBef>
              <a:buNone/>
              <a:tabLst>
                <a:tab pos="0" algn="l"/>
              </a:tabLst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 algn="l">
              <a:lnSpc>
                <a:spcPct val="100000"/>
              </a:lnSpc>
              <a:spcBef>
                <a:spcPts val="1060"/>
              </a:spcBef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Бизнес-цель: Создать предиктивную систему автоматической оценки риска для медицинского персонала, которая в момент назначения схемы лечения сигнализирует о высокой вероятности тяжелой побочной реакции у конкретного пациента.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5000"/>
            <a:ext cx="9071280" cy="94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Формулировка задачи Data Science (Этап 1)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p>
            <a:pPr marL="432000" indent="0" algn="l">
              <a:lnSpc>
                <a:spcPct val="100000"/>
              </a:lnSpc>
              <a:spcBef>
                <a:spcPts val="1060"/>
              </a:spcBef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Тип задачи: Бинарная классификация.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 algn="l">
              <a:lnSpc>
                <a:spcPct val="100000"/>
              </a:lnSpc>
              <a:spcBef>
                <a:spcPts val="1060"/>
              </a:spcBef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Класс `1` — у пациента разовьется тяжелая побочная реакция (требующая отмены препарата/интенсивной терапии).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 algn="l">
              <a:lnSpc>
                <a:spcPct val="100000"/>
              </a:lnSpc>
              <a:spcBef>
                <a:spcPts val="1060"/>
              </a:spcBef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Класс `0` — лечение пройдет без критических осложнений.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 algn="l">
              <a:lnSpc>
                <a:spcPct val="100000"/>
              </a:lnSpc>
              <a:spcBef>
                <a:spcPts val="1060"/>
              </a:spcBef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Ключевая бизнес-метрика: Recall (Полнота) 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 algn="l">
              <a:lnSpc>
                <a:spcPct val="100000"/>
              </a:lnSpc>
              <a:spcBef>
                <a:spcPts val="1060"/>
              </a:spcBef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Почему Recall? В медицине критически опасно пропустить пациента с риском (ошибка False Negative). Лучше перестраховать врача, чем допустить тяжелое осложнение.Модель должна максимизировать обнаружение опасных состояний. Вспомогательные метрики: F1-Score (баланс) и ROC-AUC (общая разделительная способность).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04000" y="225000"/>
            <a:ext cx="9071280" cy="94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Структура и требования к данным (Этап 2)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532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p>
            <a:pPr marL="432000" indent="0" algn="l">
              <a:lnSpc>
                <a:spcPct val="100000"/>
              </a:lnSpc>
              <a:spcBef>
                <a:spcPts val="1060"/>
              </a:spcBef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Источник: Анонимизированная выгрузка из ЕМИАС / Электронных медицинских карт (1500 наблюдений). Dataset: «adverse_drug_reactions.csv»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 algn="l">
              <a:lnSpc>
                <a:spcPct val="100000"/>
              </a:lnSpc>
              <a:spcBef>
                <a:spcPts val="1060"/>
              </a:spcBef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Признаковое пространство: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 algn="l">
              <a:lnSpc>
                <a:spcPct val="100000"/>
              </a:lnSpc>
              <a:spcBef>
                <a:spcPts val="1060"/>
              </a:spcBef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`age` (числовой): Возраст пациента.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 algn="l">
              <a:lnSpc>
                <a:spcPct val="100000"/>
              </a:lnSpc>
              <a:spcBef>
                <a:spcPts val="1060"/>
              </a:spcBef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`gender` (категориальный): Пол.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 algn="l">
              <a:lnSpc>
                <a:spcPct val="100000"/>
              </a:lnSpc>
              <a:spcBef>
                <a:spcPts val="1060"/>
              </a:spcBef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`drug_class` (категориальный): Основной класс назначенного препарата (Антибиотики, НПВП, Антикоагулянты, Вакцины и др.).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 algn="l">
              <a:lnSpc>
                <a:spcPct val="100000"/>
              </a:lnSpc>
              <a:spcBef>
                <a:spcPts val="1060"/>
              </a:spcBef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`dosage_mg` (числовой): Разовая дозировка.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 algn="l">
              <a:lnSpc>
                <a:spcPct val="100000"/>
              </a:lnSpc>
              <a:spcBef>
                <a:spcPts val="1060"/>
              </a:spcBef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`polypharmacy_count` (числовой): Количество сопутствующих медикаментов в листе назначений.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 algn="l">
              <a:lnSpc>
                <a:spcPct val="100000"/>
              </a:lnSpc>
              <a:spcBef>
                <a:spcPts val="1060"/>
              </a:spcBef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`blood_pressure_status` (категориальный): Уровень АД (Normal, High, Low).</a:t>
            </a: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04000" y="225000"/>
            <a:ext cx="9071280" cy="94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Результаты EDA (Исследовательский анализ)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35640" cy="3892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lnSpc>
                <a:spcPct val="100000"/>
              </a:lnSpc>
              <a:spcBef>
                <a:spcPts val="1060"/>
              </a:spcBef>
              <a:buNone/>
              <a:tabLst>
                <a:tab pos="0" algn="l"/>
              </a:tabLst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Источник: Анонимизированная выгрузка 1500 электронных медицинских карт (`adverse_drug_reactions.csv`).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1060"/>
              </a:spcBef>
              <a:buNone/>
              <a:tabLst>
                <a:tab pos="0" algn="l"/>
              </a:tabLst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Дисбаланс классов:  ~35% тяжелых случаев к ~65% стабильных исходов (учтено при стратификации).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1060"/>
              </a:spcBef>
              <a:buNone/>
              <a:tabLst>
                <a:tab pos="0" algn="l"/>
              </a:tabLst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Главный инсайт (Полипрагмазия):  Диаграмма размаха четко показывает связь рисков с количеством лекарств. Медиана назначений у стабильных пациентов составляет 3 препарата, тогда как у пациентов с тяжелыми осложнениями она сдвинута к 6 препаратам.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1060"/>
              </a:spcBef>
              <a:buNone/>
              <a:tabLst>
                <a:tab pos="0" algn="l"/>
              </a:tabLst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Иллюстрации на слайде: `target_distribution.png` и `polypharmacy_impact.png` (Boxplot).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1060"/>
              </a:spcBef>
              <a:buNone/>
              <a:tabLst>
                <a:tab pos="0" algn="l"/>
              </a:tabLst>
            </a:pP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04000" y="446760"/>
            <a:ext cx="9071280" cy="50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Графики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" name=""/>
          <p:cNvPicPr/>
          <p:nvPr/>
        </p:nvPicPr>
        <p:blipFill>
          <a:blip r:embed="rId1"/>
          <a:stretch/>
        </p:blipFill>
        <p:spPr>
          <a:xfrm>
            <a:off x="4860000" y="1203480"/>
            <a:ext cx="4679640" cy="419616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34" name=""/>
          <p:cNvPicPr/>
          <p:nvPr/>
        </p:nvPicPr>
        <p:blipFill>
          <a:blip r:embed="rId2"/>
          <a:stretch/>
        </p:blipFill>
        <p:spPr>
          <a:xfrm>
            <a:off x="360000" y="1260000"/>
            <a:ext cx="4499640" cy="3959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504000" y="225000"/>
            <a:ext cx="9071280" cy="94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Предобработка данных и Пайплайны (Preprocessing)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212400" y="1260000"/>
            <a:ext cx="9689760" cy="412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</a:t>
            </a: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Защита от утечки данных (Data Leakage): Вся предобработка строго инкапсулирована в Sklearn Pipelines и ColumnTransformer, разделяя логику для типов признаков.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Числовые признаки (`age`, `dosage_mg`, `polypharmacy_count`):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* Заполнение пропусков медианным значением (`SimpleImputer(strategy='median')`).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* Стандартизация значений (`StandardScaler`).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Категориальные признаки (`gender`, `drug_class`, `blood_pressure_status`):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* Заполнение пропусков модой (`SimpleImputer(strategy='most_frequent')`).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* Прямое кодирование (`OneHotEncoder(drop='first', handle_unknown='ignore')`) для предотвращения мультиколлинеарности.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Валидация: Разделение данных на Train/Test (80/20) со стратификацией по классам.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40000" y="103320"/>
            <a:ext cx="9071280" cy="100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Эволюция моделей и подбор параметров (Этап 3)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533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p>
            <a:pPr indent="0" algn="l">
              <a:spcBef>
                <a:spcPts val="1060"/>
              </a:spcBef>
              <a:buNone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Протестировано три концептуальных подхода: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060"/>
              </a:spcBef>
              <a:buNone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1.  Logistic Regression: Линейный Baseline. Простой, интерпретируемый, но не способный улавливать сложные нелинейные паттерны.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060"/>
              </a:spcBef>
              <a:buNone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2.  Random Forest Classifier: Ансамбль параллельных деревьев (бэггинг). Оптимизирован через `GridSearchCV`.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060"/>
              </a:spcBef>
              <a:buNone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3.  XGBoost Classifier (Extreme Gradient Boosting): Передовой алгоритм последовательного бустинга. Каждое дерево учится на ошибках (остатках) предыдущих, обеспечивая максимальную подгонку к сложным медицинским взаимосвязям.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504000" y="225000"/>
            <a:ext cx="9071280" cy="94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Сравнение результатов моделей (Этап 4)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540000" y="1172520"/>
            <a:ext cx="8819640" cy="283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Результаты тестирования на отложенной выборке: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* Линейный baseline (LR) показала базовое качество (F1 ~ 0.79).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* Случайный лес (RF) хорошо справился с нелинейностью, но уступил лидеру.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* XGBoost продемонстрировал наивысшую эффективность, обеспечив максимальный показатель Recall (0.9135). Модель успешно выявляет более 91% всех реальных угроз для пациентов.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Иллюстрация на слайде: Сводный график трехстороннего сравнения моделей `models_comparison.png`.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446760"/>
            <a:ext cx="9071280" cy="50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График сравнения метрик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" name=""/>
          <p:cNvPicPr/>
          <p:nvPr/>
        </p:nvPicPr>
        <p:blipFill>
          <a:blip r:embed="rId1"/>
          <a:stretch/>
        </p:blipFill>
        <p:spPr>
          <a:xfrm>
            <a:off x="540000" y="1080000"/>
            <a:ext cx="8639640" cy="4221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504000" y="225000"/>
            <a:ext cx="9071280" cy="94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Анализ ошибок лучшей модели (Этап 4)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6436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p>
            <a:pPr indent="0" algn="l">
              <a:spcBef>
                <a:spcPts val="1060"/>
              </a:spcBef>
              <a:buNone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Разбор матрицы ошибок (Тестовая выборка — 300 пациентов):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060"/>
              </a:spcBef>
              <a:buNone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* True Negative (40): Модель точно подтвердила отсутствие рисков для стабильных пациентов.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060"/>
              </a:spcBef>
              <a:buNone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* True Positive (169): Модель успешно выявила и спасла от осложнений 169 человек.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060"/>
              </a:spcBef>
              <a:buNone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* False Negative (Всего 16): Самая опасная ошибка (пропуск риска) снижена до минимума благодаря градиентному бустингу.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060"/>
              </a:spcBef>
              <a:buNone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Иллюстрация на слайде: Матрица ошибок `confusion_matrix_xgb.png`.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" name=""/>
          <p:cNvPicPr/>
          <p:nvPr/>
        </p:nvPicPr>
        <p:blipFill>
          <a:blip r:embed="rId1"/>
          <a:stretch/>
        </p:blipFill>
        <p:spPr>
          <a:xfrm>
            <a:off x="5040000" y="1620000"/>
            <a:ext cx="4320000" cy="360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04000" y="225000"/>
            <a:ext cx="9071280" cy="94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Интерпретация модели и важность признаков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3815280" cy="3892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0000" lnSpcReduction="19999"/>
          </a:bodyPr>
          <a:p>
            <a:pPr marL="432000" indent="0" algn="l">
              <a:lnSpc>
                <a:spcPct val="100000"/>
              </a:lnSpc>
              <a:spcBef>
                <a:spcPts val="1060"/>
              </a:spcBef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Анализ Feature Importance из модели Random Forest показал топ-7 триггера: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 algn="l">
              <a:lnSpc>
                <a:spcPct val="100000"/>
              </a:lnSpc>
              <a:spcBef>
                <a:spcPts val="1060"/>
              </a:spcBef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Количество принимаемых препаратов (Polypharmacy Count): Самый весомый фактор. Нагрузка на метаболизм возрастает экспоненциально.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 algn="l">
              <a:lnSpc>
                <a:spcPct val="100000"/>
              </a:lnSpc>
              <a:spcBef>
                <a:spcPts val="1060"/>
              </a:spcBef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Класс препарата (Drug Class - Anticoagulant): Назначение антикоагулянтов в сочетании со старшим возрастом резко повышает риск тяжелых осложнений (кровотечений).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 algn="l">
              <a:lnSpc>
                <a:spcPct val="100000"/>
              </a:lnSpc>
              <a:spcBef>
                <a:spcPts val="1060"/>
              </a:spcBef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3.blood_pressure_status_Normal (Статус АД) — важный соматический маркер.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8" name=""/>
          <p:cNvPicPr/>
          <p:nvPr/>
        </p:nvPicPr>
        <p:blipFill>
          <a:blip r:embed="rId1"/>
          <a:stretch/>
        </p:blipFill>
        <p:spPr>
          <a:xfrm>
            <a:off x="4320000" y="1506600"/>
            <a:ext cx="5400000" cy="3713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04000" y="225000"/>
            <a:ext cx="9071280" cy="94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Практическое применение и бизнес-эффект (Этап 5)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p>
            <a:pPr marL="432000" indent="0" algn="l">
              <a:lnSpc>
                <a:spcPct val="100000"/>
              </a:lnSpc>
              <a:spcBef>
                <a:spcPts val="1060"/>
              </a:spcBef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Интеграция: Модель упаковывается в </a:t>
            </a: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готовый пайплайн и внедряется в </a:t>
            </a: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Медицинские Информационные </a:t>
            </a: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Системы (МИС) как модуль </a:t>
            </a: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интеллектуальной поддержки </a:t>
            </a: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(CDSS).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 algn="l">
              <a:lnSpc>
                <a:spcPct val="100000"/>
              </a:lnSpc>
              <a:spcBef>
                <a:spcPts val="1060"/>
              </a:spcBef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Сценарий: При клике врача </a:t>
            </a: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«Сохранить рецепт» модель </a:t>
            </a: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мгновенно оценивает карту. При </a:t>
            </a: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риске &gt; 75% выводится окно: </a:t>
            </a: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«Внимание: высокий риск тяжелой </a:t>
            </a: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реакции! Критическое сочетание </a:t>
            </a: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возраста и полипрагмазии».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 algn="l">
              <a:lnSpc>
                <a:spcPct val="100000"/>
              </a:lnSpc>
              <a:spcBef>
                <a:spcPts val="1060"/>
              </a:spcBef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Ожидаемый эффект: Снижение </a:t>
            </a: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частоты тяжелых осложнений на 20-</a:t>
            </a: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25%, минимизация затрат на </a:t>
            </a: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реанимацию и защита здоровья </a:t>
            </a: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граждан.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 algn="l">
              <a:lnSpc>
                <a:spcPct val="100000"/>
              </a:lnSpc>
              <a:spcBef>
                <a:spcPts val="1060"/>
              </a:spcBef>
              <a:buNone/>
              <a:tabLst>
                <a:tab pos="0" algn="l"/>
              </a:tabLst>
            </a:pP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234</TotalTime>
  <Application>LibreOffice/26.2.6.3$Linux_X86_64 LibreOffice_project/620$Build-3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2026-10-18T15:20:07Z</dcterms:created>
  <dc:creator/>
  <dc:description>This work is licensed under a Creative Commons Attribution-ShareAlike 3.0 Unported License.
It makes use of the works of Mateus Machado Luna.
SVG pictures were made by Rizmut.</dc:description>
  <dc:language>ru-RU</dc:language>
  <cp:lastModifiedBy/>
  <dcterms:modified xsi:type="dcterms:W3CDTF">2026-10-21T22:19:54Z</dcterms:modified>
  <cp:revision>5</cp:revision>
  <dc:subject/>
  <dc:title>Blueprint Plans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